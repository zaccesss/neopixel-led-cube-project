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6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ABD95-F46B-4F33-8C43-2CE14C0E59FC}" type="datetimeFigureOut">
              <a:t>12/4/2025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5EF5F-437A-47FA-A1A7-B92BFD8185A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95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Neo pixels – why we chose them what they do and their rating such as </a:t>
            </a:r>
            <a:r>
              <a:rPr lang="en-GB" err="1"/>
              <a:t>volatage</a:t>
            </a:r>
            <a:r>
              <a:rPr lang="en-GB"/>
              <a:t> and current</a:t>
            </a:r>
          </a:p>
          <a:p>
            <a:r>
              <a:rPr lang="en-GB"/>
              <a:t>Power supply- what power</a:t>
            </a:r>
            <a:r>
              <a:rPr lang="en-GB" baseline="0"/>
              <a:t> supply we used and why and values of what it provides</a:t>
            </a:r>
          </a:p>
          <a:p>
            <a:r>
              <a:rPr lang="en-GB" baseline="0"/>
              <a:t>PCB – why we chose this over the original idea of no </a:t>
            </a:r>
            <a:r>
              <a:rPr lang="en-GB" baseline="0" err="1"/>
              <a:t>pcb</a:t>
            </a:r>
            <a:endParaRPr lang="en-GB" baseline="0"/>
          </a:p>
          <a:p>
            <a:r>
              <a:rPr lang="en-GB" baseline="0"/>
              <a:t>Arduino – why we chose this over other possible programming languages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309B60-444C-46DC-B59C-1EC22006D2E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6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2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9C2931-03CA-4EDD-96C7-98825BA545E4}"/>
              </a:ext>
            </a:extLst>
          </p:cNvPr>
          <p:cNvSpPr>
            <a:spLocks noGrp="1"/>
          </p:cNvSpPr>
          <p:nvPr/>
        </p:nvSpPr>
        <p:spPr>
          <a:xfrm>
            <a:off x="-2" y="-236803"/>
            <a:ext cx="10058400" cy="19536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>
                <a:cs typeface="Calibri Light"/>
              </a:rPr>
            </a:br>
            <a:br>
              <a:rPr lang="en-US" sz="3600">
                <a:cs typeface="Calibri Light"/>
              </a:rPr>
            </a:br>
            <a:r>
              <a:rPr lang="en-GB"/>
              <a:t>Hardware Overview</a:t>
            </a:r>
            <a:br>
              <a:rPr lang="en-GB"/>
            </a:br>
            <a:r>
              <a:rPr lang="en-GB" sz="4000"/>
              <a:t>Top level block diagram:</a:t>
            </a:r>
            <a:br>
              <a:rPr lang="en-US" sz="3600">
                <a:cs typeface="Calibri Light"/>
              </a:rPr>
            </a:br>
            <a:endParaRPr lang="en-US" sz="36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A9869C-F340-30ED-103C-939DDBFFD721}"/>
              </a:ext>
            </a:extLst>
          </p:cNvPr>
          <p:cNvSpPr/>
          <p:nvPr/>
        </p:nvSpPr>
        <p:spPr>
          <a:xfrm>
            <a:off x="404609" y="1971756"/>
            <a:ext cx="11339634" cy="41804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152D8-347E-903C-A4F1-DCB1027987C6}"/>
              </a:ext>
            </a:extLst>
          </p:cNvPr>
          <p:cNvSpPr/>
          <p:nvPr/>
        </p:nvSpPr>
        <p:spPr>
          <a:xfrm>
            <a:off x="678147" y="2274601"/>
            <a:ext cx="7666401" cy="349657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D03448-F281-3B49-092A-42CA2C16667F}"/>
              </a:ext>
            </a:extLst>
          </p:cNvPr>
          <p:cNvSpPr/>
          <p:nvPr/>
        </p:nvSpPr>
        <p:spPr>
          <a:xfrm>
            <a:off x="8473994" y="2274601"/>
            <a:ext cx="2967401" cy="349657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ea typeface="Calibri"/>
              <a:cs typeface="Calibri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8BBC7656-083F-D406-7F5B-8B163F0667E4}"/>
              </a:ext>
            </a:extLst>
          </p:cNvPr>
          <p:cNvSpPr txBox="1"/>
          <p:nvPr/>
        </p:nvSpPr>
        <p:spPr>
          <a:xfrm>
            <a:off x="3302000" y="2273788"/>
            <a:ext cx="142875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u="sng">
                <a:ea typeface="Calibri"/>
                <a:cs typeface="Calibri"/>
              </a:rPr>
              <a:t>Input</a:t>
            </a:r>
            <a:endParaRPr lang="en-GB" b="1" u="sng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369E240B-E898-EEE0-6738-5655DA9391C7}"/>
              </a:ext>
            </a:extLst>
          </p:cNvPr>
          <p:cNvSpPr txBox="1"/>
          <p:nvPr/>
        </p:nvSpPr>
        <p:spPr>
          <a:xfrm>
            <a:off x="9544538" y="2273788"/>
            <a:ext cx="142875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u="sng">
                <a:ea typeface="Calibri"/>
                <a:cs typeface="Calibri"/>
              </a:rPr>
              <a:t>Output</a:t>
            </a:r>
            <a:endParaRPr lang="en-GB" b="1" u="sng"/>
          </a:p>
        </p:txBody>
      </p:sp>
      <p:pic>
        <p:nvPicPr>
          <p:cNvPr id="10" name="Picture 9" descr="A black power adapter with a cord&#10;&#10;AI-generated content may be incorrect.">
            <a:extLst>
              <a:ext uri="{FF2B5EF4-FFF2-40B4-BE49-F238E27FC236}">
                <a16:creationId xmlns:a16="http://schemas.microsoft.com/office/drawing/2014/main" id="{61F07217-7CCE-E18D-5396-DB0870ACF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93" y="3802721"/>
            <a:ext cx="1414584" cy="1333406"/>
          </a:xfrm>
          <a:prstGeom prst="rect">
            <a:avLst/>
          </a:prstGeom>
        </p:spPr>
      </p:pic>
      <p:sp>
        <p:nvSpPr>
          <p:cNvPr id="11" name="TextBox 26">
            <a:extLst>
              <a:ext uri="{FF2B5EF4-FFF2-40B4-BE49-F238E27FC236}">
                <a16:creationId xmlns:a16="http://schemas.microsoft.com/office/drawing/2014/main" id="{B61AD630-6A3D-64E1-33A0-528BE543E5E7}"/>
              </a:ext>
            </a:extLst>
          </p:cNvPr>
          <p:cNvSpPr txBox="1"/>
          <p:nvPr/>
        </p:nvSpPr>
        <p:spPr>
          <a:xfrm>
            <a:off x="1133229" y="5126402"/>
            <a:ext cx="142875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ea typeface="Calibri"/>
                <a:cs typeface="Calibri"/>
              </a:rPr>
              <a:t>5V 6A 30W PSU</a:t>
            </a:r>
          </a:p>
        </p:txBody>
      </p:sp>
      <p:pic>
        <p:nvPicPr>
          <p:cNvPr id="12" name="Picture 1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1ED112BE-92FF-5641-0423-769D348CF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940" y="3824701"/>
            <a:ext cx="1736969" cy="1260134"/>
          </a:xfrm>
          <a:prstGeom prst="rect">
            <a:avLst/>
          </a:prstGeom>
        </p:spPr>
      </p:pic>
      <p:pic>
        <p:nvPicPr>
          <p:cNvPr id="13" name="Picture 12" descr="A close up of a black and white circular object&#10;&#10;AI-generated content may be incorrect.">
            <a:extLst>
              <a:ext uri="{FF2B5EF4-FFF2-40B4-BE49-F238E27FC236}">
                <a16:creationId xmlns:a16="http://schemas.microsoft.com/office/drawing/2014/main" id="{A061CCE0-A91C-AF21-590C-D67CC1EC1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708" y="4118554"/>
            <a:ext cx="1355970" cy="1453969"/>
          </a:xfrm>
          <a:prstGeom prst="rect">
            <a:avLst/>
          </a:prstGeom>
        </p:spPr>
      </p:pic>
      <p:sp>
        <p:nvSpPr>
          <p:cNvPr id="14" name="TextBox 30">
            <a:extLst>
              <a:ext uri="{FF2B5EF4-FFF2-40B4-BE49-F238E27FC236}">
                <a16:creationId xmlns:a16="http://schemas.microsoft.com/office/drawing/2014/main" id="{CE568081-E6F8-BB6E-B8DB-2B800CA205E7}"/>
              </a:ext>
            </a:extLst>
          </p:cNvPr>
          <p:cNvSpPr txBox="1"/>
          <p:nvPr/>
        </p:nvSpPr>
        <p:spPr>
          <a:xfrm>
            <a:off x="6476997" y="3797786"/>
            <a:ext cx="193675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ea typeface="Calibri"/>
                <a:cs typeface="Calibri"/>
              </a:rPr>
              <a:t>Arduino UNO R3 Microcontroller</a:t>
            </a:r>
          </a:p>
        </p:txBody>
      </p:sp>
      <p:pic>
        <p:nvPicPr>
          <p:cNvPr id="15" name="Picture 14" descr="A close up of a device&#10;&#10;AI-generated content may be incorrect.">
            <a:extLst>
              <a:ext uri="{FF2B5EF4-FFF2-40B4-BE49-F238E27FC236}">
                <a16:creationId xmlns:a16="http://schemas.microsoft.com/office/drawing/2014/main" id="{F2C8AF2E-B69D-A4A3-0B28-515DD7C2E9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06" t="25298" r="27258" b="22876"/>
          <a:stretch/>
        </p:blipFill>
        <p:spPr>
          <a:xfrm>
            <a:off x="4157784" y="2694104"/>
            <a:ext cx="748900" cy="779015"/>
          </a:xfrm>
          <a:prstGeom prst="rect">
            <a:avLst/>
          </a:prstGeom>
        </p:spPr>
      </p:pic>
      <p:pic>
        <p:nvPicPr>
          <p:cNvPr id="16" name="Picture 15" descr="A close up of a device&#10;&#10;AI-generated content may be incorrect.">
            <a:extLst>
              <a:ext uri="{FF2B5EF4-FFF2-40B4-BE49-F238E27FC236}">
                <a16:creationId xmlns:a16="http://schemas.microsoft.com/office/drawing/2014/main" id="{17337E90-8F50-78D6-DA94-76EB37AA05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06" t="25298" r="27258" b="22876"/>
          <a:stretch/>
        </p:blipFill>
        <p:spPr>
          <a:xfrm>
            <a:off x="3268784" y="2694104"/>
            <a:ext cx="748900" cy="779015"/>
          </a:xfrm>
          <a:prstGeom prst="rect">
            <a:avLst/>
          </a:prstGeom>
        </p:spPr>
      </p:pic>
      <p:pic>
        <p:nvPicPr>
          <p:cNvPr id="17" name="Picture 16" descr="A close-up of a transistor&#10;&#10;AI-generated content may be incorrect.">
            <a:extLst>
              <a:ext uri="{FF2B5EF4-FFF2-40B4-BE49-F238E27FC236}">
                <a16:creationId xmlns:a16="http://schemas.microsoft.com/office/drawing/2014/main" id="{E9D522BE-0BC2-6977-1F68-CCADC4F42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0246" y="2692400"/>
            <a:ext cx="779586" cy="779586"/>
          </a:xfrm>
          <a:prstGeom prst="rect">
            <a:avLst/>
          </a:prstGeom>
        </p:spPr>
      </p:pic>
      <p:sp>
        <p:nvSpPr>
          <p:cNvPr id="18" name="TextBox 34">
            <a:extLst>
              <a:ext uri="{FF2B5EF4-FFF2-40B4-BE49-F238E27FC236}">
                <a16:creationId xmlns:a16="http://schemas.microsoft.com/office/drawing/2014/main" id="{4531198F-71F1-051E-6940-396E0C86AD54}"/>
              </a:ext>
            </a:extLst>
          </p:cNvPr>
          <p:cNvSpPr txBox="1"/>
          <p:nvPr/>
        </p:nvSpPr>
        <p:spPr>
          <a:xfrm>
            <a:off x="674076" y="2693864"/>
            <a:ext cx="1780441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Calibri"/>
                <a:ea typeface="Calibri"/>
                <a:cs typeface="Calibri"/>
              </a:rPr>
              <a:t>LDR</a:t>
            </a:r>
          </a:p>
          <a:p>
            <a:r>
              <a:rPr lang="en-GB">
                <a:latin typeface="Calibri"/>
                <a:ea typeface="Calibri"/>
                <a:cs typeface="Calibri"/>
              </a:rPr>
              <a:t>(Analogue Input)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6F3F259C-4801-6EC2-2BDD-92C2734FF92A}"/>
              </a:ext>
            </a:extLst>
          </p:cNvPr>
          <p:cNvSpPr txBox="1"/>
          <p:nvPr/>
        </p:nvSpPr>
        <p:spPr>
          <a:xfrm>
            <a:off x="4904151" y="2762247"/>
            <a:ext cx="2083287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Calibri"/>
                <a:ea typeface="Calibri"/>
                <a:cs typeface="Calibri"/>
              </a:rPr>
              <a:t>Mini Push Button x2 (Digital Input)</a:t>
            </a:r>
          </a:p>
        </p:txBody>
      </p:sp>
      <p:pic>
        <p:nvPicPr>
          <p:cNvPr id="20" name="Picture 19" descr="A close up of a device&#10;&#10;AI-generated content may be incorrect.">
            <a:extLst>
              <a:ext uri="{FF2B5EF4-FFF2-40B4-BE49-F238E27FC236}">
                <a16:creationId xmlns:a16="http://schemas.microsoft.com/office/drawing/2014/main" id="{C3847E97-0D31-9AEE-201F-2DD69718F6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1" t="2444" r="52012" b="-592"/>
          <a:stretch/>
        </p:blipFill>
        <p:spPr>
          <a:xfrm>
            <a:off x="3057469" y="3813964"/>
            <a:ext cx="1156499" cy="1331647"/>
          </a:xfrm>
          <a:prstGeom prst="rect">
            <a:avLst/>
          </a:prstGeom>
        </p:spPr>
      </p:pic>
      <p:sp>
        <p:nvSpPr>
          <p:cNvPr id="21" name="TextBox 37">
            <a:extLst>
              <a:ext uri="{FF2B5EF4-FFF2-40B4-BE49-F238E27FC236}">
                <a16:creationId xmlns:a16="http://schemas.microsoft.com/office/drawing/2014/main" id="{FE4FD505-D30F-A685-9E5F-09ECF84B5E4B}"/>
              </a:ext>
            </a:extLst>
          </p:cNvPr>
          <p:cNvSpPr txBox="1"/>
          <p:nvPr/>
        </p:nvSpPr>
        <p:spPr>
          <a:xfrm>
            <a:off x="2920998" y="5155709"/>
            <a:ext cx="142875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Calibri"/>
                <a:ea typeface="Calibri"/>
                <a:cs typeface="Calibri"/>
              </a:rPr>
              <a:t>DC Power Jack</a:t>
            </a: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80204BC5-692E-4B02-72AB-9BAD4AA7B970}"/>
              </a:ext>
            </a:extLst>
          </p:cNvPr>
          <p:cNvSpPr txBox="1"/>
          <p:nvPr/>
        </p:nvSpPr>
        <p:spPr>
          <a:xfrm>
            <a:off x="10042767" y="4120170"/>
            <a:ext cx="1506903" cy="151640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Calibri"/>
                <a:ea typeface="Calibri"/>
                <a:cs typeface="Calibri"/>
              </a:rPr>
              <a:t>WS2812B Intelligent Control Integrated LED x64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9CFB6E3-4630-2C75-DDBF-C23DE9A71CFF}"/>
              </a:ext>
            </a:extLst>
          </p:cNvPr>
          <p:cNvSpPr/>
          <p:nvPr/>
        </p:nvSpPr>
        <p:spPr>
          <a:xfrm>
            <a:off x="2557604" y="4409985"/>
            <a:ext cx="497069" cy="1278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7CA7329-0C6C-E4E8-1585-1F4015E639AC}"/>
              </a:ext>
            </a:extLst>
          </p:cNvPr>
          <p:cNvSpPr/>
          <p:nvPr/>
        </p:nvSpPr>
        <p:spPr>
          <a:xfrm>
            <a:off x="4228142" y="4400215"/>
            <a:ext cx="497069" cy="1278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5" name="Arrow: Bent-Up 24">
            <a:extLst>
              <a:ext uri="{FF2B5EF4-FFF2-40B4-BE49-F238E27FC236}">
                <a16:creationId xmlns:a16="http://schemas.microsoft.com/office/drawing/2014/main" id="{868FE869-C478-AB47-5A30-E681FD5CBB27}"/>
              </a:ext>
            </a:extLst>
          </p:cNvPr>
          <p:cNvSpPr/>
          <p:nvPr/>
        </p:nvSpPr>
        <p:spPr>
          <a:xfrm flipV="1">
            <a:off x="2802932" y="3535625"/>
            <a:ext cx="3143321" cy="26069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630D768-5D39-560D-33D4-4B34AC69985E}"/>
              </a:ext>
            </a:extLst>
          </p:cNvPr>
          <p:cNvSpPr/>
          <p:nvPr/>
        </p:nvSpPr>
        <p:spPr>
          <a:xfrm>
            <a:off x="6484833" y="4400214"/>
            <a:ext cx="2206684" cy="1376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937CA83-7D49-17B4-BA3D-AEC42B4CBAF3}"/>
              </a:ext>
            </a:extLst>
          </p:cNvPr>
          <p:cNvSpPr/>
          <p:nvPr/>
        </p:nvSpPr>
        <p:spPr>
          <a:xfrm>
            <a:off x="3641987" y="5123137"/>
            <a:ext cx="5049530" cy="1376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A6E9A5BC-60E9-63C5-30B3-F33533D46C1F}"/>
              </a:ext>
            </a:extLst>
          </p:cNvPr>
          <p:cNvSpPr txBox="1"/>
          <p:nvPr/>
        </p:nvSpPr>
        <p:spPr>
          <a:xfrm>
            <a:off x="6476996" y="4530477"/>
            <a:ext cx="186836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ea typeface="Calibri"/>
                <a:cs typeface="Calibri"/>
              </a:rPr>
              <a:t>Single Wire Control Protocol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B577B8E8-732A-D0F6-ED14-C4DDD8E134D1}"/>
              </a:ext>
            </a:extLst>
          </p:cNvPr>
          <p:cNvSpPr txBox="1"/>
          <p:nvPr/>
        </p:nvSpPr>
        <p:spPr>
          <a:xfrm>
            <a:off x="4904150" y="5263170"/>
            <a:ext cx="290390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Calibri"/>
                <a:ea typeface="Calibri"/>
                <a:cs typeface="Calibri"/>
              </a:rPr>
              <a:t>5V 6A External Power Source</a:t>
            </a:r>
          </a:p>
        </p:txBody>
      </p:sp>
      <p:pic>
        <p:nvPicPr>
          <p:cNvPr id="30" name="Picture 29" descr="NodeMCU Peizo Buzzer on Arduino IDE | Sriparna's blog on Internet of Things">
            <a:extLst>
              <a:ext uri="{FF2B5EF4-FFF2-40B4-BE49-F238E27FC236}">
                <a16:creationId xmlns:a16="http://schemas.microsoft.com/office/drawing/2014/main" id="{AED08C92-52C1-D07D-D47D-DC047DCA941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6822" t="11845" r="28114" b="18975"/>
          <a:stretch/>
        </p:blipFill>
        <p:spPr>
          <a:xfrm>
            <a:off x="8694314" y="2694882"/>
            <a:ext cx="1343671" cy="1370216"/>
          </a:xfrm>
          <a:prstGeom prst="rect">
            <a:avLst/>
          </a:prstGeom>
        </p:spPr>
      </p:pic>
      <p:sp>
        <p:nvSpPr>
          <p:cNvPr id="31" name="TextBox 51">
            <a:extLst>
              <a:ext uri="{FF2B5EF4-FFF2-40B4-BE49-F238E27FC236}">
                <a16:creationId xmlns:a16="http://schemas.microsoft.com/office/drawing/2014/main" id="{70422B28-AF84-40BA-2A02-F6F3F5568D21}"/>
              </a:ext>
            </a:extLst>
          </p:cNvPr>
          <p:cNvSpPr txBox="1"/>
          <p:nvPr/>
        </p:nvSpPr>
        <p:spPr>
          <a:xfrm>
            <a:off x="10042766" y="2693862"/>
            <a:ext cx="150690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err="1">
                <a:latin typeface="Calibri"/>
                <a:ea typeface="Calibri"/>
                <a:cs typeface="Calibri"/>
              </a:rPr>
              <a:t>Peizo</a:t>
            </a:r>
            <a:r>
              <a:rPr lang="en-GB">
                <a:latin typeface="Calibri"/>
                <a:ea typeface="Calibri"/>
                <a:cs typeface="Calibri"/>
              </a:rPr>
              <a:t> Buzzer</a:t>
            </a:r>
          </a:p>
        </p:txBody>
      </p:sp>
      <p:sp>
        <p:nvSpPr>
          <p:cNvPr id="32" name="Arrow: Bent 31">
            <a:extLst>
              <a:ext uri="{FF2B5EF4-FFF2-40B4-BE49-F238E27FC236}">
                <a16:creationId xmlns:a16="http://schemas.microsoft.com/office/drawing/2014/main" id="{721CAF29-6251-DFB8-B213-10A883BDE526}"/>
              </a:ext>
            </a:extLst>
          </p:cNvPr>
          <p:cNvSpPr/>
          <p:nvPr/>
        </p:nvSpPr>
        <p:spPr>
          <a:xfrm>
            <a:off x="6133170" y="3512634"/>
            <a:ext cx="2555487" cy="27878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4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04A9-C2F5-4AAF-9A68-6D6A1371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US">
                <a:cs typeface="Calibri Light"/>
              </a:rPr>
              <a:t>Top Level Hardware Summary</a:t>
            </a:r>
            <a:br>
              <a:rPr lang="en-US">
                <a:ea typeface="Calibri Light"/>
                <a:cs typeface="Calibri Light"/>
              </a:rPr>
            </a:br>
            <a:r>
              <a:rPr lang="en-GB" sz="3600">
                <a:ea typeface="Calibri Light"/>
                <a:cs typeface="Calibri Light"/>
              </a:rPr>
              <a:t>Parts description: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4A2E6E-A589-91F2-264E-2F96BAF80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96484"/>
              </p:ext>
            </p:extLst>
          </p:nvPr>
        </p:nvGraphicFramePr>
        <p:xfrm>
          <a:off x="146539" y="1240692"/>
          <a:ext cx="5778499" cy="542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1893577778"/>
                    </a:ext>
                  </a:extLst>
                </a:gridCol>
                <a:gridCol w="1926166">
                  <a:extLst>
                    <a:ext uri="{9D8B030D-6E8A-4147-A177-3AD203B41FA5}">
                      <a16:colId xmlns:a16="http://schemas.microsoft.com/office/drawing/2014/main" val="1636953725"/>
                    </a:ext>
                  </a:extLst>
                </a:gridCol>
                <a:gridCol w="2487083">
                  <a:extLst>
                    <a:ext uri="{9D8B030D-6E8A-4147-A177-3AD203B41FA5}">
                      <a16:colId xmlns:a16="http://schemas.microsoft.com/office/drawing/2014/main" val="2895625569"/>
                    </a:ext>
                  </a:extLst>
                </a:gridCol>
              </a:tblGrid>
              <a:tr h="1014832">
                <a:tc>
                  <a:txBody>
                    <a:bodyPr/>
                    <a:lstStyle/>
                    <a:p>
                      <a:r>
                        <a:rPr lang="en-GB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  <a:endParaRPr lang="en-GB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186219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r>
                        <a:rPr lang="en-GB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Arduino UNO R3 Microcontroller x1</a:t>
                      </a:r>
                      <a:endPara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Controls </a:t>
                      </a:r>
                      <a:r>
                        <a:rPr lang="en-GB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Neopixels</a:t>
                      </a:r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allows buttons and LDR to control the cube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49359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5V 6A 30W PSU x1</a:t>
                      </a:r>
                      <a:endPara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Powers Arduino and </a:t>
                      </a:r>
                      <a:r>
                        <a:rPr lang="en-GB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Neopixels</a:t>
                      </a:r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supplying sufficient current.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00544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DC Power Jack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Allows easy connection of power 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726302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WS2812 i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ntelligent Control Integrated LED x64</a:t>
                      </a:r>
                      <a:endParaRPr lang="en-GB" sz="1800" b="0" i="0" u="none" strike="noStrike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4x4x4 cube made from these, individually addressable and RGB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11455"/>
                  </a:ext>
                </a:extLst>
              </a:tr>
            </a:tbl>
          </a:graphicData>
        </a:graphic>
      </p:graphicFrame>
      <p:pic>
        <p:nvPicPr>
          <p:cNvPr id="19" name="Picture 18" descr="A black power adapter with a cord&#10;&#10;AI-generated content may be incorrect.">
            <a:extLst>
              <a:ext uri="{FF2B5EF4-FFF2-40B4-BE49-F238E27FC236}">
                <a16:creationId xmlns:a16="http://schemas.microsoft.com/office/drawing/2014/main" id="{199564DF-E2E8-72C8-C0F7-EDC46889F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0" y="3460799"/>
            <a:ext cx="1072661" cy="962176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99BC35A-6E58-4A7C-B250-9DE021A70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438178"/>
              </p:ext>
            </p:extLst>
          </p:nvPr>
        </p:nvGraphicFramePr>
        <p:xfrm>
          <a:off x="5920153" y="1230922"/>
          <a:ext cx="6075879" cy="4248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510">
                  <a:extLst>
                    <a:ext uri="{9D8B030D-6E8A-4147-A177-3AD203B41FA5}">
                      <a16:colId xmlns:a16="http://schemas.microsoft.com/office/drawing/2014/main" val="1893577778"/>
                    </a:ext>
                  </a:extLst>
                </a:gridCol>
                <a:gridCol w="1894416">
                  <a:extLst>
                    <a:ext uri="{9D8B030D-6E8A-4147-A177-3AD203B41FA5}">
                      <a16:colId xmlns:a16="http://schemas.microsoft.com/office/drawing/2014/main" val="1636953725"/>
                    </a:ext>
                  </a:extLst>
                </a:gridCol>
                <a:gridCol w="2745953">
                  <a:extLst>
                    <a:ext uri="{9D8B030D-6E8A-4147-A177-3AD203B41FA5}">
                      <a16:colId xmlns:a16="http://schemas.microsoft.com/office/drawing/2014/main" val="2895625569"/>
                    </a:ext>
                  </a:extLst>
                </a:gridCol>
              </a:tblGrid>
              <a:tr h="1014832">
                <a:tc>
                  <a:txBody>
                    <a:bodyPr/>
                    <a:lstStyle/>
                    <a:p>
                      <a:r>
                        <a:rPr lang="en-GB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186219"/>
                  </a:ext>
                </a:extLst>
              </a:tr>
              <a:tr h="120373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Mini Push Button 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Allows user to control LED patters to turn the LEDS on and 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49359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LDR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Allows brightness of LEDS to change based on ambient light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00544"/>
                  </a:ext>
                </a:extLst>
              </a:tr>
              <a:tr h="10148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Peizo</a:t>
                      </a:r>
                      <a:r>
                        <a:rPr lang="en-GB" sz="18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 Buzzer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Verbal confirmation that the cube has been powered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726302"/>
                  </a:ext>
                </a:extLst>
              </a:tr>
            </a:tbl>
          </a:graphicData>
        </a:graphic>
      </p:graphicFrame>
      <p:pic>
        <p:nvPicPr>
          <p:cNvPr id="27" name="Picture 26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65DF7F0-76E9-73FB-B1EB-5811D3FCF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87" y="2320239"/>
            <a:ext cx="1258276" cy="879134"/>
          </a:xfrm>
          <a:prstGeom prst="rect">
            <a:avLst/>
          </a:prstGeom>
        </p:spPr>
      </p:pic>
      <p:pic>
        <p:nvPicPr>
          <p:cNvPr id="29" name="Picture 28" descr="A close up of a device&#10;&#10;AI-generated content may be incorrect.">
            <a:extLst>
              <a:ext uri="{FF2B5EF4-FFF2-40B4-BE49-F238E27FC236}">
                <a16:creationId xmlns:a16="http://schemas.microsoft.com/office/drawing/2014/main" id="{4265379F-DB3D-1469-737D-2322771793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" t="2444" r="52012" b="-592"/>
          <a:stretch/>
        </p:blipFill>
        <p:spPr>
          <a:xfrm>
            <a:off x="390470" y="4546657"/>
            <a:ext cx="853653" cy="931109"/>
          </a:xfrm>
          <a:prstGeom prst="rect">
            <a:avLst/>
          </a:prstGeom>
        </p:spPr>
      </p:pic>
      <p:pic>
        <p:nvPicPr>
          <p:cNvPr id="6" name="Picture 5" descr="A close up of a device&#10;&#10;AI-generated content may be incorrect.">
            <a:extLst>
              <a:ext uri="{FF2B5EF4-FFF2-40B4-BE49-F238E27FC236}">
                <a16:creationId xmlns:a16="http://schemas.microsoft.com/office/drawing/2014/main" id="{53FCA350-56E6-08A5-2838-9FF28A08D3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371" y="2310790"/>
            <a:ext cx="742950" cy="790575"/>
          </a:xfrm>
          <a:prstGeom prst="rect">
            <a:avLst/>
          </a:prstGeom>
        </p:spPr>
      </p:pic>
      <p:pic>
        <p:nvPicPr>
          <p:cNvPr id="7" name="Picture 6" descr="A close-up of a transistor&#10;&#10;AI-generated content may be incorrect.">
            <a:extLst>
              <a:ext uri="{FF2B5EF4-FFF2-40B4-BE49-F238E27FC236}">
                <a16:creationId xmlns:a16="http://schemas.microsoft.com/office/drawing/2014/main" id="{D2761EDE-0ADC-872E-6221-436DF0643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4860" y="3546476"/>
            <a:ext cx="781050" cy="781050"/>
          </a:xfrm>
          <a:prstGeom prst="rect">
            <a:avLst/>
          </a:prstGeom>
        </p:spPr>
      </p:pic>
      <p:pic>
        <p:nvPicPr>
          <p:cNvPr id="9" name="Picture 8" descr="NodeMCU Peizo Buzzer on Arduino IDE | Sriparna's blog on Internet of Things">
            <a:extLst>
              <a:ext uri="{FF2B5EF4-FFF2-40B4-BE49-F238E27FC236}">
                <a16:creationId xmlns:a16="http://schemas.microsoft.com/office/drawing/2014/main" id="{0B262F8B-1876-7F7E-DA7E-FA8FE9C049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7235" y="4515827"/>
            <a:ext cx="876300" cy="952500"/>
          </a:xfrm>
          <a:prstGeom prst="rect">
            <a:avLst/>
          </a:prstGeom>
        </p:spPr>
      </p:pic>
      <p:pic>
        <p:nvPicPr>
          <p:cNvPr id="3" name="Picture 2" descr="A close up of a black and white circular object&#10;&#10;AI-generated content may be incorrect.">
            <a:extLst>
              <a:ext uri="{FF2B5EF4-FFF2-40B4-BE49-F238E27FC236}">
                <a16:creationId xmlns:a16="http://schemas.microsoft.com/office/drawing/2014/main" id="{44288F4F-427D-3C42-FCF1-29490EDECD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010" y="5575423"/>
            <a:ext cx="8858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0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2D22-BC49-9324-F4E3-4A66D474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US"/>
              <a:t>Top Level Hardware Summary</a:t>
            </a:r>
            <a:br>
              <a:rPr lang="en-US"/>
            </a:br>
            <a:r>
              <a:rPr lang="en-GB" sz="3600"/>
              <a:t>Arduino pin description:</a:t>
            </a:r>
            <a:endParaRPr lang="en-US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3D983E46-5C7C-F0F2-0287-375590B7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632" y="2388624"/>
            <a:ext cx="3700585" cy="2715749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B4C3286-B738-F329-DE4B-9F48AAE77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128073"/>
              </p:ext>
            </p:extLst>
          </p:nvPr>
        </p:nvGraphicFramePr>
        <p:xfrm>
          <a:off x="271585" y="1718164"/>
          <a:ext cx="7514285" cy="4048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959">
                  <a:extLst>
                    <a:ext uri="{9D8B030D-6E8A-4147-A177-3AD203B41FA5}">
                      <a16:colId xmlns:a16="http://schemas.microsoft.com/office/drawing/2014/main" val="1557652171"/>
                    </a:ext>
                  </a:extLst>
                </a:gridCol>
                <a:gridCol w="1588802">
                  <a:extLst>
                    <a:ext uri="{9D8B030D-6E8A-4147-A177-3AD203B41FA5}">
                      <a16:colId xmlns:a16="http://schemas.microsoft.com/office/drawing/2014/main" val="1818349987"/>
                    </a:ext>
                  </a:extLst>
                </a:gridCol>
                <a:gridCol w="4703524">
                  <a:extLst>
                    <a:ext uri="{9D8B030D-6E8A-4147-A177-3AD203B41FA5}">
                      <a16:colId xmlns:a16="http://schemas.microsoft.com/office/drawing/2014/main" val="39939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Pin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I/O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35614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Power Button (high low digital input)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52323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Input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Mode Button 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(high low digital input)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24881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Buzzer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3665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Single Wire Control Protocol (Serial bus type)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58186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LDR (analogue input)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02418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Connects to PSU ground, also used for pull down resistors for all 3 inputs. Connects to buzzer 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22428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Connects to PSU +5V, used for all 3 inputs and the buzzer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17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99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6910-D9F3-43FD-11E0-89B72E0E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C3BD-113B-89FD-F4F7-F88B4E4E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US"/>
              <a:t>Top Level Hardware Summary</a:t>
            </a:r>
            <a:br>
              <a:rPr lang="en-US"/>
            </a:br>
            <a:r>
              <a:rPr lang="en-GB" sz="3600"/>
              <a:t>Voltage and current requirements: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DDCB3-C05B-8993-7C68-771E05644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77" y="1415317"/>
            <a:ext cx="7496908" cy="48104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Each </a:t>
            </a:r>
            <a:r>
              <a:rPr lang="en-GB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WS2812B LED has 3 colours, each using 20mA at peak brightness, 60mA maximum for each LED (3 x 20).</a:t>
            </a:r>
            <a:endParaRPr lang="en-GB" sz="18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64 LEDS used for the 4x4x4 cube. 64 x 60 = 3840mA, 4A when rounded.</a:t>
            </a:r>
          </a:p>
          <a:p>
            <a:pPr marL="0" indent="0">
              <a:buNone/>
            </a:pPr>
            <a:r>
              <a:rPr lang="en-GB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The Arduino can supply a maximum current of 500mA when powered by USB, and 900mA when using the built-in barrel jack input. Either way this is insufficient to power all the LEDS. </a:t>
            </a:r>
          </a:p>
          <a:p>
            <a:pPr marL="0" indent="0">
              <a:buNone/>
            </a:pPr>
            <a:endParaRPr lang="en-GB">
              <a:solidFill>
                <a:srgbClr val="000000"/>
              </a:solidFill>
              <a:latin typeface="Aptos"/>
              <a:ea typeface="Calibri"/>
              <a:cs typeface="Calibri"/>
            </a:endParaRPr>
          </a:p>
        </p:txBody>
      </p:sp>
      <p:pic>
        <p:nvPicPr>
          <p:cNvPr id="7" name="Picture 6" descr="A close up of a black and white circular object&#10;&#10;AI-generated content may be incorrect.">
            <a:extLst>
              <a:ext uri="{FF2B5EF4-FFF2-40B4-BE49-F238E27FC236}">
                <a16:creationId xmlns:a16="http://schemas.microsoft.com/office/drawing/2014/main" id="{E241FF15-5900-AC88-AA04-453D73ED7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478" y="1568784"/>
            <a:ext cx="1561123" cy="17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72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03E0C156CE1F4E92CB6AEBBD05F86A" ma:contentTypeVersion="5" ma:contentTypeDescription="Create a new document." ma:contentTypeScope="" ma:versionID="9344554dc12e2f9a16337ebd69038bdd">
  <xsd:schema xmlns:xsd="http://www.w3.org/2001/XMLSchema" xmlns:xs="http://www.w3.org/2001/XMLSchema" xmlns:p="http://schemas.microsoft.com/office/2006/metadata/properties" xmlns:ns2="aa1b7f46-24c2-402e-be29-b517ac9e194d" targetNamespace="http://schemas.microsoft.com/office/2006/metadata/properties" ma:root="true" ma:fieldsID="8fe71107b3c21d1e04b8c1f7d107958a" ns2:_="">
    <xsd:import namespace="aa1b7f46-24c2-402e-be29-b517ac9e19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b7f46-24c2-402e-be29-b517ac9e1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2F859F-B5D1-46E3-B5E8-00A42F9412D5}">
  <ds:schemaRefs>
    <ds:schemaRef ds:uri="aa1b7f46-24c2-402e-be29-b517ac9e19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DDDC8CD-F604-4DF3-B886-C8AAE0C7A103}">
  <ds:schemaRefs>
    <ds:schemaRef ds:uri="aa1b7f46-24c2-402e-be29-b517ac9e19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084CFA4-33EB-4905-8DD2-C90FA1603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404</Words>
  <Application>Microsoft Office PowerPoint</Application>
  <PresentationFormat>Widescreen</PresentationFormat>
  <Paragraphs>68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Hardware</vt:lpstr>
      <vt:lpstr>PowerPoint Presentation</vt:lpstr>
      <vt:lpstr>Top Level Hardware Summary Parts description:</vt:lpstr>
      <vt:lpstr>Top Level Hardware Summary Arduino pin description:</vt:lpstr>
      <vt:lpstr>Top Level Hardware Summary Voltage and current requirements: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Adjei</dc:creator>
  <cp:lastModifiedBy>Isaac Adjei (Student)</cp:lastModifiedBy>
  <cp:revision>2</cp:revision>
  <dcterms:created xsi:type="dcterms:W3CDTF">2025-03-30T22:40:26Z</dcterms:created>
  <dcterms:modified xsi:type="dcterms:W3CDTF">2025-12-04T14:11:18Z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0x010100A203E0C156CE1F4E92CB6AEBBD05F86A</vt:lpwstr>
  </property>
</Properties>
</file>